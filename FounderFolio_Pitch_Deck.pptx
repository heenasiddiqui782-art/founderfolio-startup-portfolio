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2A44"/>
                </a:solidFill>
                <a:latin typeface="+mn-lt"/>
              </a:rPr>
              <a:t>Base-case monthly revenue, Rs thousand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Base-case revenue (Rs thousand)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11</c:v>
                </c:pt>
                <c:pt idx="4">
                  <c:v>21</c:v>
                </c:pt>
                <c:pt idx="5">
                  <c:v>38</c:v>
                </c:pt>
                <c:pt idx="6">
                  <c:v>59</c:v>
                </c:pt>
                <c:pt idx="7">
                  <c:v>84</c:v>
                </c:pt>
                <c:pt idx="8">
                  <c:v>113</c:v>
                </c:pt>
                <c:pt idx="9">
                  <c:v>147</c:v>
                </c:pt>
                <c:pt idx="10">
                  <c:v>185</c:v>
                </c:pt>
                <c:pt idx="11">
                  <c:v>227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hook: losing a competition because the slides looked unprofessional. State clearly that this is a proposed, pre-launch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FounderFolio  |  Proposed startup concept, pre-launch. Projections and assumptions are labelled.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548640" y="1097280"/>
            <a:ext cx="109728" cy="1371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name"/>
          <p:cNvSpPr txBox="1"/>
          <p:nvPr/>
        </p:nvSpPr>
        <p:spPr>
          <a:xfrm>
            <a:off x="868680" y="1005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FounderFolio</a:t>
            </a:r>
            <a:endParaRPr lang="en-US" sz="4800" dirty="0"/>
          </a:p>
        </p:txBody>
      </p:sp>
      <p:sp>
        <p:nvSpPr>
          <p:cNvPr id="4" name="tagline"/>
          <p:cNvSpPr txBox="1"/>
          <p:nvPr/>
        </p:nvSpPr>
        <p:spPr>
          <a:xfrm>
            <a:off x="868680" y="1828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Your story, investor-ready, and honest about the evidence.</a:t>
            </a:r>
            <a:endParaRPr lang="en-US" sz="2000" dirty="0"/>
          </a:p>
        </p:txBody>
      </p:sp>
      <p:sp>
        <p:nvSpPr>
          <p:cNvPr id="5" name="one-line pitch"/>
          <p:cNvSpPr txBox="1"/>
          <p:nvPr/>
        </p:nvSpPr>
        <p:spPr>
          <a:xfrm>
            <a:off x="868680" y="2743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We help student and first-time founders in India turn an idea into an investor-ready portfolio and deck by providing a guided builder that labels every claim as evidence or assumption, resulting in faster, more credible pitches.</a:t>
            </a:r>
            <a:endParaRPr lang="en-US" sz="1400" dirty="0"/>
          </a:p>
        </p:txBody>
      </p:sp>
      <p:sp>
        <p:nvSpPr>
          <p:cNvPr id="6" name="status"/>
          <p:cNvSpPr txBox="1"/>
          <p:nvPr/>
        </p:nvSpPr>
        <p:spPr>
          <a:xfrm>
            <a:off x="86868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PROPOSED STARTUP CONCEPT  |  PRE-LAUNCH  |  Founder: [Your name]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First-time founders lose chances because their pitch is not credible</a:t>
            </a:r>
            <a:endParaRPr lang="en-US" sz="2600" dirty="0"/>
          </a:p>
        </p:txBody>
      </p:sp>
      <p:sp>
        <p:nvSpPr>
          <p:cNvPr id="3" name="p1 card"/>
          <p:cNvSpPr/>
          <p:nvPr/>
        </p:nvSpPr>
        <p:spPr>
          <a:xfrm>
            <a:off x="45720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" name="p1 head"/>
          <p:cNvSpPr txBox="1"/>
          <p:nvPr/>
        </p:nvSpPr>
        <p:spPr>
          <a:xfrm>
            <a:off x="59436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No structure</a:t>
            </a:r>
            <a:endParaRPr lang="en-US" sz="1500" dirty="0"/>
          </a:p>
        </p:txBody>
      </p:sp>
      <p:sp>
        <p:nvSpPr>
          <p:cNvPr id="5" name="p1 body"/>
          <p:cNvSpPr txBox="1"/>
          <p:nvPr/>
        </p:nvSpPr>
        <p:spPr>
          <a:xfrm>
            <a:off x="594360" y="1737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Blank page, no investor-style flow. Hard to know what to include or in what order.</a:t>
            </a:r>
            <a:endParaRPr lang="en-US" sz="1300" dirty="0"/>
          </a:p>
        </p:txBody>
      </p:sp>
      <p:sp>
        <p:nvSpPr>
          <p:cNvPr id="6" name="p2 card"/>
          <p:cNvSpPr/>
          <p:nvPr/>
        </p:nvSpPr>
        <p:spPr>
          <a:xfrm>
            <a:off x="326898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7" name="p2 head"/>
          <p:cNvSpPr txBox="1"/>
          <p:nvPr/>
        </p:nvSpPr>
        <p:spPr>
          <a:xfrm>
            <a:off x="340614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Weak design</a:t>
            </a:r>
            <a:endParaRPr lang="en-US" sz="1500" dirty="0"/>
          </a:p>
        </p:txBody>
      </p:sp>
      <p:sp>
        <p:nvSpPr>
          <p:cNvPr id="8" name="p2 body"/>
          <p:cNvSpPr txBox="1"/>
          <p:nvPr/>
        </p:nvSpPr>
        <p:spPr>
          <a:xfrm>
            <a:off x="3406140" y="1737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designer, so slides look amateur. Agencies are costly and slow.</a:t>
            </a:r>
            <a:endParaRPr lang="en-US" sz="1300" dirty="0"/>
          </a:p>
        </p:txBody>
      </p:sp>
      <p:sp>
        <p:nvSpPr>
          <p:cNvPr id="9" name="p3 card"/>
          <p:cNvSpPr/>
          <p:nvPr/>
        </p:nvSpPr>
        <p:spPr>
          <a:xfrm>
            <a:off x="608076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0" name="p3 head"/>
          <p:cNvSpPr txBox="1"/>
          <p:nvPr/>
        </p:nvSpPr>
        <p:spPr>
          <a:xfrm>
            <a:off x="621792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Unsupported numbers</a:t>
            </a:r>
            <a:endParaRPr lang="en-US" sz="1500" dirty="0"/>
          </a:p>
        </p:txBody>
      </p:sp>
      <p:sp>
        <p:nvSpPr>
          <p:cNvPr id="11" name="p3 body"/>
          <p:cNvSpPr txBox="1"/>
          <p:nvPr/>
        </p:nvSpPr>
        <p:spPr>
          <a:xfrm>
            <a:off x="6217920" y="1737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Market sizes and claims without sources. Panels notice fast.</a:t>
            </a:r>
            <a:endParaRPr lang="en-US" sz="1300" dirty="0"/>
          </a:p>
        </p:txBody>
      </p:sp>
      <p:sp>
        <p:nvSpPr>
          <p:cNvPr id="12" name="today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Today: Canva or PowerPoint templates, copied decks, AI drafts, freelancers.</a:t>
            </a:r>
            <a:endParaRPr lang="en-US" sz="1300" dirty="0"/>
          </a:p>
        </p:txBody>
      </p:sp>
      <p:sp>
        <p:nvSpPr>
          <p:cNvPr id="13" name="status 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ASSUMPTION: severity and frequency to be validated through 15 customer interviews and a survey. No results yet.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guided builder that makes every claim honest</a:t>
            </a:r>
            <a:endParaRPr lang="en-US" sz="2600" dirty="0"/>
          </a:p>
        </p:txBody>
      </p:sp>
      <p:sp>
        <p:nvSpPr>
          <p:cNvPr id="3" name="step0 card"/>
          <p:cNvSpPr/>
          <p:nvPr/>
        </p:nvSpPr>
        <p:spPr>
          <a:xfrm>
            <a:off x="457200" y="137160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" name="step0 head"/>
          <p:cNvSpPr txBox="1"/>
          <p:nvPr/>
        </p:nvSpPr>
        <p:spPr>
          <a:xfrm>
            <a:off x="59436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  Input</a:t>
            </a:r>
            <a:endParaRPr lang="en-US" sz="1500" dirty="0"/>
          </a:p>
        </p:txBody>
      </p:sp>
      <p:sp>
        <p:nvSpPr>
          <p:cNvPr id="5" name="step0 body"/>
          <p:cNvSpPr txBox="1"/>
          <p:nvPr/>
        </p:nvSpPr>
        <p:spPr>
          <a:xfrm>
            <a:off x="594360" y="1828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Short guided wizard</a:t>
            </a:r>
            <a:endParaRPr lang="en-US" sz="1300" dirty="0"/>
          </a:p>
        </p:txBody>
      </p:sp>
      <p:sp>
        <p:nvSpPr>
          <p:cNvPr id="6" name="step1 card"/>
          <p:cNvSpPr/>
          <p:nvPr/>
        </p:nvSpPr>
        <p:spPr>
          <a:xfrm>
            <a:off x="2560320" y="137160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7" name="step1 head"/>
          <p:cNvSpPr txBox="1"/>
          <p:nvPr/>
        </p:nvSpPr>
        <p:spPr>
          <a:xfrm>
            <a:off x="269748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  AI draft</a:t>
            </a:r>
            <a:endParaRPr lang="en-US" sz="1500" dirty="0"/>
          </a:p>
        </p:txBody>
      </p:sp>
      <p:sp>
        <p:nvSpPr>
          <p:cNvPr id="8" name="step1 body"/>
          <p:cNvSpPr txBox="1"/>
          <p:nvPr/>
        </p:nvSpPr>
        <p:spPr>
          <a:xfrm>
            <a:off x="2697480" y="1828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Suggested wording</a:t>
            </a:r>
            <a:endParaRPr lang="en-US" sz="1300" dirty="0"/>
          </a:p>
        </p:txBody>
      </p:sp>
      <p:sp>
        <p:nvSpPr>
          <p:cNvPr id="9" name="step2 card"/>
          <p:cNvSpPr/>
          <p:nvPr/>
        </p:nvSpPr>
        <p:spPr>
          <a:xfrm>
            <a:off x="4663440" y="137160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0" name="step2 head"/>
          <p:cNvSpPr txBox="1"/>
          <p:nvPr/>
        </p:nvSpPr>
        <p:spPr>
          <a:xfrm>
            <a:off x="480060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  Evidence tags</a:t>
            </a:r>
            <a:endParaRPr lang="en-US" sz="1500" dirty="0"/>
          </a:p>
        </p:txBody>
      </p:sp>
      <p:sp>
        <p:nvSpPr>
          <p:cNvPr id="11" name="step2 body"/>
          <p:cNvSpPr txBox="1"/>
          <p:nvPr/>
        </p:nvSpPr>
        <p:spPr>
          <a:xfrm>
            <a:off x="4800600" y="1828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Verified, Assumption or Projection</a:t>
            </a:r>
            <a:endParaRPr lang="en-US" sz="1300" dirty="0"/>
          </a:p>
        </p:txBody>
      </p:sp>
      <p:sp>
        <p:nvSpPr>
          <p:cNvPr id="12" name="step3 card"/>
          <p:cNvSpPr/>
          <p:nvPr/>
        </p:nvSpPr>
        <p:spPr>
          <a:xfrm>
            <a:off x="6766560" y="137160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3" name="step3 head"/>
          <p:cNvSpPr txBox="1"/>
          <p:nvPr/>
        </p:nvSpPr>
        <p:spPr>
          <a:xfrm>
            <a:off x="690372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  Export</a:t>
            </a:r>
            <a:endParaRPr lang="en-US" sz="1500" dirty="0"/>
          </a:p>
        </p:txBody>
      </p:sp>
      <p:sp>
        <p:nvSpPr>
          <p:cNvPr id="14" name="step3 body"/>
          <p:cNvSpPr txBox="1"/>
          <p:nvPr/>
        </p:nvSpPr>
        <p:spPr>
          <a:xfrm>
            <a:off x="6903720" y="1828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12-slide deck and portfolio page</a:t>
            </a:r>
            <a:endParaRPr lang="en-US" sz="1300" dirty="0"/>
          </a:p>
        </p:txBody>
      </p:sp>
      <p:sp>
        <p:nvSpPr>
          <p:cNvPr id="15" name="benefit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Benefit: a clear, credible first draft in about 30 minutes (MVP target), without an agency.</a:t>
            </a:r>
            <a:endParaRPr lang="en-US" sz="1500" dirty="0"/>
          </a:p>
        </p:txBody>
      </p:sp>
      <p:sp>
        <p:nvSpPr>
          <p:cNvPr id="16" name="differentiator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Key differentiator: evidence discipline built into the workflow, not only attractive slides.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focused niche inside India's growing startup ecosystem</a:t>
            </a:r>
            <a:endParaRPr lang="en-US" sz="2600" dirty="0"/>
          </a:p>
        </p:txBody>
      </p:sp>
      <p:sp>
        <p:nvSpPr>
          <p:cNvPr id="3" name="TAM card"/>
          <p:cNvSpPr/>
          <p:nvPr/>
        </p:nvSpPr>
        <p:spPr>
          <a:xfrm>
            <a:off x="45720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AM label"/>
          <p:cNvSpPr txBox="1"/>
          <p:nvPr/>
        </p:nvSpPr>
        <p:spPr>
          <a:xfrm>
            <a:off x="59436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TAM</a:t>
            </a:r>
            <a:endParaRPr lang="en-US" sz="1300" dirty="0"/>
          </a:p>
        </p:txBody>
      </p:sp>
      <p:sp>
        <p:nvSpPr>
          <p:cNvPr id="5" name="TAM value"/>
          <p:cNvSpPr txBox="1"/>
          <p:nvPr/>
        </p:nvSpPr>
        <p:spPr>
          <a:xfrm>
            <a:off x="59436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~Rs 272 cr</a:t>
            </a:r>
            <a:endParaRPr lang="en-US" sz="3200" dirty="0"/>
          </a:p>
        </p:txBody>
      </p:sp>
      <p:sp>
        <p:nvSpPr>
          <p:cNvPr id="6" name="TAM basis"/>
          <p:cNvSpPr txBox="1"/>
          <p:nvPr/>
        </p:nvSpPr>
        <p:spPr>
          <a:xfrm>
            <a:off x="594360" y="2468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10.9 lakh potential users x Rs 2,500 a year</a:t>
            </a:r>
            <a:endParaRPr lang="en-US" sz="1100" dirty="0"/>
          </a:p>
        </p:txBody>
      </p:sp>
      <p:sp>
        <p:nvSpPr>
          <p:cNvPr id="7" name="SAM card"/>
          <p:cNvSpPr/>
          <p:nvPr/>
        </p:nvSpPr>
        <p:spPr>
          <a:xfrm>
            <a:off x="326898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SAM label"/>
          <p:cNvSpPr txBox="1"/>
          <p:nvPr/>
        </p:nvSpPr>
        <p:spPr>
          <a:xfrm>
            <a:off x="340614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SAM</a:t>
            </a:r>
            <a:endParaRPr lang="en-US" sz="1300" dirty="0"/>
          </a:p>
        </p:txBody>
      </p:sp>
      <p:sp>
        <p:nvSpPr>
          <p:cNvPr id="9" name="SAM value"/>
          <p:cNvSpPr txBox="1"/>
          <p:nvPr/>
        </p:nvSpPr>
        <p:spPr>
          <a:xfrm>
            <a:off x="340614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~Rs 68 cr</a:t>
            </a:r>
            <a:endParaRPr lang="en-US" sz="3200" dirty="0"/>
          </a:p>
        </p:txBody>
      </p:sp>
      <p:sp>
        <p:nvSpPr>
          <p:cNvPr id="10" name="SAM basis"/>
          <p:cNvSpPr txBox="1"/>
          <p:nvPr/>
        </p:nvSpPr>
        <p:spPr>
          <a:xfrm>
            <a:off x="3406140" y="2468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2.7 lakh reachable users (25% of TAM users)</a:t>
            </a:r>
            <a:endParaRPr lang="en-US" sz="1100" dirty="0"/>
          </a:p>
        </p:txBody>
      </p:sp>
      <p:sp>
        <p:nvSpPr>
          <p:cNvPr id="11" name="SOM (24 mo) card"/>
          <p:cNvSpPr/>
          <p:nvPr/>
        </p:nvSpPr>
        <p:spPr>
          <a:xfrm>
            <a:off x="608076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SOM (24 mo) label"/>
          <p:cNvSpPr txBox="1"/>
          <p:nvPr/>
        </p:nvSpPr>
        <p:spPr>
          <a:xfrm>
            <a:off x="621792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SOM (24 mo)</a:t>
            </a:r>
            <a:endParaRPr lang="en-US" sz="1300" dirty="0"/>
          </a:p>
        </p:txBody>
      </p:sp>
      <p:sp>
        <p:nvSpPr>
          <p:cNvPr id="13" name="SOM (24 mo) value"/>
          <p:cNvSpPr txBox="1"/>
          <p:nvPr/>
        </p:nvSpPr>
        <p:spPr>
          <a:xfrm>
            <a:off x="621792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~Rs 0.5 cr</a:t>
            </a:r>
            <a:endParaRPr lang="en-US" sz="3200" dirty="0"/>
          </a:p>
        </p:txBody>
      </p:sp>
      <p:sp>
        <p:nvSpPr>
          <p:cNvPr id="14" name="SOM (24 mo) basis"/>
          <p:cNvSpPr txBox="1"/>
          <p:nvPr/>
        </p:nvSpPr>
        <p:spPr>
          <a:xfrm>
            <a:off x="6217920" y="2468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About 2,000 paying users</a:t>
            </a:r>
            <a:endParaRPr lang="en-US" sz="1100" dirty="0"/>
          </a:p>
        </p:txBody>
      </p:sp>
      <p:sp>
        <p:nvSpPr>
          <p:cNvPr id="15" name="verified"/>
          <p:cNvSpPr txBox="1"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Verified: over 2.23 lakh DPIIT-recognised startups (Mar 2026); nearly 4.33 crore higher-education students (2021-22).</a:t>
            </a:r>
            <a:endParaRPr lang="en-US" sz="1100" dirty="0"/>
          </a:p>
        </p:txBody>
      </p:sp>
      <p:sp>
        <p:nvSpPr>
          <p:cNvPr id="16" name="status 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Sources: Inc42 / Commerce Ministry 2026; Ministry of Education AISHE 2021-22. Participation percentages and spend per user are ASSUMPTIONS.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MVP: test whether founders finish, return and pay</a:t>
            </a:r>
            <a:endParaRPr lang="en-US" sz="2600" dirty="0"/>
          </a:p>
        </p:txBody>
      </p:sp>
      <p:sp>
        <p:nvSpPr>
          <p:cNvPr id="3" name="features card"/>
          <p:cNvSpPr/>
          <p:nvPr/>
        </p:nvSpPr>
        <p:spPr>
          <a:xfrm>
            <a:off x="457200" y="128016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" name="features head"/>
          <p:cNvSpPr txBox="1"/>
          <p:nvPr/>
        </p:nvSpPr>
        <p:spPr>
          <a:xfrm>
            <a:off x="59436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Core MVP features</a:t>
            </a:r>
            <a:endParaRPr lang="en-US" sz="1500" dirty="0"/>
          </a:p>
        </p:txBody>
      </p:sp>
      <p:sp>
        <p:nvSpPr>
          <p:cNvPr id="5" name="features body"/>
          <p:cNvSpPr txBox="1"/>
          <p:nvPr/>
        </p:nvSpPr>
        <p:spPr>
          <a:xfrm>
            <a:off x="594360" y="173736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- Guided input wizard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- AI-assisted wording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- Evidence tags on every claim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- 2 clean templates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- PPTX / PDF export</a:t>
            </a:r>
            <a:endParaRPr lang="en-US" sz="1300" dirty="0"/>
          </a:p>
        </p:txBody>
      </p:sp>
      <p:sp>
        <p:nvSpPr>
          <p:cNvPr id="6" name="journey card"/>
          <p:cNvSpPr/>
          <p:nvPr/>
        </p:nvSpPr>
        <p:spPr>
          <a:xfrm>
            <a:off x="4663440" y="128016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7" name="journey head"/>
          <p:cNvSpPr txBox="1"/>
          <p:nvPr/>
        </p:nvSpPr>
        <p:spPr>
          <a:xfrm>
            <a:off x="480060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User journey</a:t>
            </a:r>
            <a:endParaRPr lang="en-US" sz="1500" dirty="0"/>
          </a:p>
        </p:txBody>
      </p:sp>
      <p:sp>
        <p:nvSpPr>
          <p:cNvPr id="8" name="journey body"/>
          <p:cNvSpPr txBox="1"/>
          <p:nvPr/>
        </p:nvSpPr>
        <p:spPr>
          <a:xfrm>
            <a:off x="4800600" y="173736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1. Enter startup basics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2. Review AI draft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3. Tag evidence and assumptions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4. Export deck, share portfolio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Excluded for now: payments, team collaboration, analytics.</a:t>
            </a:r>
            <a:endParaRPr lang="en-US" sz="1300" dirty="0"/>
          </a:p>
        </p:txBody>
      </p:sp>
      <p:sp>
        <p:nvSpPr>
          <p:cNvPr id="9" name="status 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PROPOSED: concierge or no-code version first. Test targets: 60% complete a deck, 40% would reuse, 10% willing to pay.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Free to start, subscription to scale, licences for institutions</a:t>
            </a:r>
            <a:endParaRPr lang="en-US" sz="2600" dirty="0"/>
          </a:p>
        </p:txBody>
      </p:sp>
      <p:graphicFrame>
        <p:nvGraphicFramePr>
          <p:cNvPr id="7" name="pric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256032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Plan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Price (ASSUMPTION)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Who pays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Basic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Rs 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Student exploring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Acquisition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Standard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Rs 299 a month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Active student founder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Core 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Premium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Rs 799 a month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Freelancer, MBA founder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Higher ARPU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Institution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Rs 50,000 a year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College, E-Cell, incubator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Scale channel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revenue"/>
          <p:cNvSpPr txBox="1"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Revenue: subscriptions plus institutional licences. Blended ARPU assumed about Rs 420 a month.</a:t>
            </a:r>
            <a:endParaRPr lang="en-US" sz="1300" dirty="0"/>
          </a:p>
        </p:txBody>
      </p:sp>
      <p:sp>
        <p:nvSpPr>
          <p:cNvPr id="5" name="status 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ASSUMPTION: all prices to be tested through willingness-to-pay research.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Strong rivals in design. Our edge is evidence and India focus</a:t>
            </a:r>
            <a:endParaRPr lang="en-US" sz="2600" dirty="0"/>
          </a:p>
        </p:txBody>
      </p:sp>
      <p:graphicFrame>
        <p:nvGraphicFramePr>
          <p:cNvPr id="8" name="competitor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46304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Factor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FounderFolio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Slidebean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Canva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Gamma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Design and templates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Limited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Strong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Strong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Strong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Investor structure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Strong*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Strong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Evidence labelling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Strong*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Limited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Limited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Limited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India context and pricing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Strong*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Verify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Verify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Brand and resources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Limited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Strong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Strong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Strong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whitespace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Whitespace: affordable, founder-specialised, evidence-first. Also compared: Pitch, Beautiful.ai, Notion, agencies.</a:t>
            </a:r>
            <a:endParaRPr lang="en-US" sz="1200" dirty="0"/>
          </a:p>
        </p:txBody>
      </p:sp>
      <p:sp>
        <p:nvSpPr>
          <p:cNvPr id="5" name="status 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*Planned, pre-product. Ratings are the author's judgement. Competitor pricing marked "verify" must be checked on live pages.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Go-to-market: validate first, then campus, then institutions</a:t>
            </a:r>
            <a:endParaRPr lang="en-US" sz="2600" dirty="0"/>
          </a:p>
        </p:txBody>
      </p:sp>
      <p:sp>
        <p:nvSpPr>
          <p:cNvPr id="3" name="phase 1"/>
          <p:cNvSpPr/>
          <p:nvPr/>
        </p:nvSpPr>
        <p:spPr>
          <a:xfrm>
            <a:off x="457200" y="1280160"/>
            <a:ext cx="15087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phase label 1"/>
          <p:cNvSpPr txBox="1"/>
          <p:nvPr/>
        </p:nvSpPr>
        <p:spPr>
          <a:xfrm>
            <a:off x="457200" y="12801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M0-2</a:t>
            </a:r>
            <a:endParaRPr lang="en-US" sz="1200" dirty="0"/>
          </a:p>
        </p:txBody>
      </p:sp>
      <p:sp>
        <p:nvSpPr>
          <p:cNvPr id="5" name="phase 2"/>
          <p:cNvSpPr/>
          <p:nvPr/>
        </p:nvSpPr>
        <p:spPr>
          <a:xfrm>
            <a:off x="2103120" y="1280160"/>
            <a:ext cx="15087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phase label 2"/>
          <p:cNvSpPr txBox="1"/>
          <p:nvPr/>
        </p:nvSpPr>
        <p:spPr>
          <a:xfrm>
            <a:off x="2103120" y="12801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MVP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M2-4</a:t>
            </a:r>
            <a:endParaRPr lang="en-US" sz="1200" dirty="0"/>
          </a:p>
        </p:txBody>
      </p:sp>
      <p:sp>
        <p:nvSpPr>
          <p:cNvPr id="7" name="phase 3"/>
          <p:cNvSpPr/>
          <p:nvPr/>
        </p:nvSpPr>
        <p:spPr>
          <a:xfrm>
            <a:off x="3749040" y="1280160"/>
            <a:ext cx="15087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phase label 3"/>
          <p:cNvSpPr txBox="1"/>
          <p:nvPr/>
        </p:nvSpPr>
        <p:spPr>
          <a:xfrm>
            <a:off x="3749040" y="12801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Early adopters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M4-6</a:t>
            </a:r>
            <a:endParaRPr lang="en-US" sz="1200" dirty="0"/>
          </a:p>
        </p:txBody>
      </p:sp>
      <p:sp>
        <p:nvSpPr>
          <p:cNvPr id="9" name="phase 4"/>
          <p:cNvSpPr/>
          <p:nvPr/>
        </p:nvSpPr>
        <p:spPr>
          <a:xfrm>
            <a:off x="5394960" y="1280160"/>
            <a:ext cx="15087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phase label 4"/>
          <p:cNvSpPr txBox="1"/>
          <p:nvPr/>
        </p:nvSpPr>
        <p:spPr>
          <a:xfrm>
            <a:off x="5394960" y="12801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Launch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M6-9</a:t>
            </a:r>
            <a:endParaRPr lang="en-US" sz="1200" dirty="0"/>
          </a:p>
        </p:txBody>
      </p:sp>
      <p:sp>
        <p:nvSpPr>
          <p:cNvPr id="11" name="phase 5"/>
          <p:cNvSpPr/>
          <p:nvPr/>
        </p:nvSpPr>
        <p:spPr>
          <a:xfrm>
            <a:off x="7040880" y="1280160"/>
            <a:ext cx="15087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phase label 5"/>
          <p:cNvSpPr txBox="1"/>
          <p:nvPr/>
        </p:nvSpPr>
        <p:spPr>
          <a:xfrm>
            <a:off x="7040880" y="12801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Growth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M9-24</a:t>
            </a:r>
            <a:endParaRPr lang="en-US" sz="1200" dirty="0"/>
          </a:p>
        </p:txBody>
      </p:sp>
      <p:sp>
        <p:nvSpPr>
          <p:cNvPr id="13" name="channels card"/>
          <p:cNvSpPr/>
          <p:nvPr/>
        </p:nvSpPr>
        <p:spPr>
          <a:xfrm>
            <a:off x="457200" y="2468880"/>
            <a:ext cx="40233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4" name="channels head"/>
          <p:cNvSpPr txBox="1"/>
          <p:nvPr/>
        </p:nvSpPr>
        <p:spPr>
          <a:xfrm>
            <a:off x="59436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Channels</a:t>
            </a:r>
            <a:endParaRPr lang="en-US" sz="1500" dirty="0"/>
          </a:p>
        </p:txBody>
      </p:sp>
      <p:sp>
        <p:nvSpPr>
          <p:cNvPr id="15" name="channels body"/>
          <p:cNvSpPr txBox="1"/>
          <p:nvPr/>
        </p:nvSpPr>
        <p:spPr>
          <a:xfrm>
            <a:off x="594360" y="29260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E-Cells and campus communities, LinkedIn and Instagram content, SEO, referrals, then college and incubator licences.</a:t>
            </a:r>
            <a:endParaRPr lang="en-US" sz="1300" dirty="0"/>
          </a:p>
        </p:txBody>
      </p:sp>
      <p:sp>
        <p:nvSpPr>
          <p:cNvPr id="16" name="funnel card"/>
          <p:cNvSpPr/>
          <p:nvPr/>
        </p:nvSpPr>
        <p:spPr>
          <a:xfrm>
            <a:off x="4663440" y="2468880"/>
            <a:ext cx="40233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7" name="funnel head"/>
          <p:cNvSpPr txBox="1"/>
          <p:nvPr/>
        </p:nvSpPr>
        <p:spPr>
          <a:xfrm>
            <a:off x="480060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Funnel targets</a:t>
            </a:r>
            <a:endParaRPr lang="en-US" sz="1500" dirty="0"/>
          </a:p>
        </p:txBody>
      </p:sp>
      <p:sp>
        <p:nvSpPr>
          <p:cNvPr id="18" name="funnel body"/>
          <p:cNvSpPr txBox="1"/>
          <p:nvPr/>
        </p:nvSpPr>
        <p:spPr>
          <a:xfrm>
            <a:off x="4800600" y="29260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Visitor to lead 8%, lead to completed draft 40%, draft to paid 10%, 15% refer a friend.</a:t>
            </a:r>
            <a:endParaRPr lang="en-US" sz="1300" dirty="0"/>
          </a:p>
        </p:txBody>
      </p:sp>
      <p:sp>
        <p:nvSpPr>
          <p:cNvPr id="19" name="status 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PROPOSED STRATEGY: all conversion figures are TARGETS, not results.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Traction: none yet. Here is the validation plan</a:t>
            </a:r>
            <a:endParaRPr lang="en-US" sz="2600" dirty="0"/>
          </a:p>
        </p:txBody>
      </p:sp>
      <p:sp>
        <p:nvSpPr>
          <p:cNvPr id="3" name="v1 card"/>
          <p:cNvSpPr/>
          <p:nvPr/>
        </p:nvSpPr>
        <p:spPr>
          <a:xfrm>
            <a:off x="457200" y="128016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" name="v1 head"/>
          <p:cNvSpPr txBox="1"/>
          <p:nvPr/>
        </p:nvSpPr>
        <p:spPr>
          <a:xfrm>
            <a:off x="59436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Customer research</a:t>
            </a:r>
            <a:endParaRPr lang="en-US" sz="1500" dirty="0"/>
          </a:p>
        </p:txBody>
      </p:sp>
      <p:sp>
        <p:nvSpPr>
          <p:cNvPr id="5" name="v1 body"/>
          <p:cNvSpPr txBox="1"/>
          <p:nvPr/>
        </p:nvSpPr>
        <p:spPr>
          <a:xfrm>
            <a:off x="594360" y="17373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15 founder interviews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100-person survey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Competitor review reading</a:t>
            </a:r>
            <a:endParaRPr lang="en-US" sz="1300" dirty="0"/>
          </a:p>
        </p:txBody>
      </p:sp>
      <p:sp>
        <p:nvSpPr>
          <p:cNvPr id="6" name="v2 card"/>
          <p:cNvSpPr/>
          <p:nvPr/>
        </p:nvSpPr>
        <p:spPr>
          <a:xfrm>
            <a:off x="3268980" y="128016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7" name="v2 head"/>
          <p:cNvSpPr txBox="1"/>
          <p:nvPr/>
        </p:nvSpPr>
        <p:spPr>
          <a:xfrm>
            <a:off x="340614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MVP test</a:t>
            </a:r>
            <a:endParaRPr lang="en-US" sz="1500" dirty="0"/>
          </a:p>
        </p:txBody>
      </p:sp>
      <p:sp>
        <p:nvSpPr>
          <p:cNvPr id="8" name="v2 body"/>
          <p:cNvSpPr txBox="1"/>
          <p:nvPr/>
        </p:nvSpPr>
        <p:spPr>
          <a:xfrm>
            <a:off x="3406140" y="17373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Concierge MVP with 20 to 30 student founders over 6 to 8 weeks</a:t>
            </a:r>
            <a:endParaRPr lang="en-US" sz="1300" dirty="0"/>
          </a:p>
        </p:txBody>
      </p:sp>
      <p:sp>
        <p:nvSpPr>
          <p:cNvPr id="9" name="v3 card"/>
          <p:cNvSpPr/>
          <p:nvPr/>
        </p:nvSpPr>
        <p:spPr>
          <a:xfrm>
            <a:off x="6080760" y="128016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accent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0" name="v3 head"/>
          <p:cNvSpPr txBox="1"/>
          <p:nvPr/>
        </p:nvSpPr>
        <p:spPr>
          <a:xfrm>
            <a:off x="621792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Decision rule</a:t>
            </a:r>
            <a:endParaRPr lang="en-US" sz="1500" dirty="0"/>
          </a:p>
        </p:txBody>
      </p:sp>
      <p:sp>
        <p:nvSpPr>
          <p:cNvPr id="11" name="v3 body"/>
          <p:cNvSpPr txBox="1"/>
          <p:nvPr/>
        </p:nvSpPr>
        <p:spPr>
          <a:xfrm>
            <a:off x="6217920" y="17373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If founders do not value evidence labels or will not pay, pivot the angle or stop.</a:t>
            </a:r>
            <a:endParaRPr lang="en-US" sz="1300" dirty="0"/>
          </a:p>
        </p:txBody>
      </p:sp>
      <p:sp>
        <p:nvSpPr>
          <p:cNvPr id="12" name="status 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No customers, users, revenue, partnerships or investors exist today. Results will be added only when real.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Modelled path to monthly profit in month 9 (projection)</a:t>
            </a:r>
            <a:endParaRPr lang="en-US" sz="2600" dirty="0"/>
          </a:p>
        </p:txBody>
      </p:sp>
      <p:graphicFrame>
        <p:nvGraphicFramePr>
          <p:cNvPr id="3" name="revenue chart" descr=""/>
          <p:cNvGraphicFramePr/>
          <p:nvPr/>
        </p:nvGraphicFramePr>
        <p:xfrm>
          <a:off x="457200" y="118872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pi value 0"/>
          <p:cNvSpPr txBox="1"/>
          <p:nvPr/>
        </p:nvSpPr>
        <p:spPr>
          <a:xfrm>
            <a:off x="5852160" y="1188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~Rs 830</a:t>
            </a:r>
            <a:endParaRPr lang="en-US" sz="2200" dirty="0"/>
          </a:p>
        </p:txBody>
      </p:sp>
      <p:sp>
        <p:nvSpPr>
          <p:cNvPr id="5" name="kpi label 0"/>
          <p:cNvSpPr txBox="1"/>
          <p:nvPr/>
        </p:nvSpPr>
        <p:spPr>
          <a:xfrm>
            <a:off x="5852160" y="1581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CAC (modelled)</a:t>
            </a:r>
            <a:endParaRPr lang="en-US" sz="1000" dirty="0"/>
          </a:p>
        </p:txBody>
      </p:sp>
      <p:sp>
        <p:nvSpPr>
          <p:cNvPr id="6" name="kpi value 1"/>
          <p:cNvSpPr txBox="1"/>
          <p:nvPr/>
        </p:nvSpPr>
        <p:spPr>
          <a:xfrm>
            <a:off x="5852160" y="19385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~Rs 5,500</a:t>
            </a:r>
            <a:endParaRPr lang="en-US" sz="2200" dirty="0"/>
          </a:p>
        </p:txBody>
      </p:sp>
      <p:sp>
        <p:nvSpPr>
          <p:cNvPr id="7" name="kpi label 1"/>
          <p:cNvSpPr txBox="1"/>
          <p:nvPr/>
        </p:nvSpPr>
        <p:spPr>
          <a:xfrm>
            <a:off x="5852160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LTV (6% monthly churn assumed)</a:t>
            </a:r>
            <a:endParaRPr lang="en-US" sz="1000" dirty="0"/>
          </a:p>
        </p:txBody>
      </p:sp>
      <p:sp>
        <p:nvSpPr>
          <p:cNvPr id="8" name="kpi value 2"/>
          <p:cNvSpPr txBox="1"/>
          <p:nvPr/>
        </p:nvSpPr>
        <p:spPr>
          <a:xfrm>
            <a:off x="5852160" y="268833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~79%</a:t>
            </a:r>
            <a:endParaRPr lang="en-US" sz="2200" dirty="0"/>
          </a:p>
        </p:txBody>
      </p:sp>
      <p:sp>
        <p:nvSpPr>
          <p:cNvPr id="9" name="kpi label 2"/>
          <p:cNvSpPr txBox="1"/>
          <p:nvPr/>
        </p:nvSpPr>
        <p:spPr>
          <a:xfrm>
            <a:off x="5852160" y="3081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Gross margin</a:t>
            </a:r>
            <a:endParaRPr lang="en-US" sz="1000" dirty="0"/>
          </a:p>
        </p:txBody>
      </p:sp>
      <p:sp>
        <p:nvSpPr>
          <p:cNvPr id="10" name="kpi value 3"/>
          <p:cNvSpPr txBox="1"/>
          <p:nvPr/>
        </p:nvSpPr>
        <p:spPr>
          <a:xfrm>
            <a:off x="5852160" y="343814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~155</a:t>
            </a:r>
            <a:endParaRPr lang="en-US" sz="2200" dirty="0"/>
          </a:p>
        </p:txBody>
      </p:sp>
      <p:sp>
        <p:nvSpPr>
          <p:cNvPr id="11" name="kpi label 3"/>
          <p:cNvSpPr txBox="1"/>
          <p:nvPr/>
        </p:nvSpPr>
        <p:spPr>
          <a:xfrm>
            <a:off x="5852160" y="38313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Break-even customers (fixed costs only)</a:t>
            </a:r>
            <a:endParaRPr lang="en-US" sz="1000" dirty="0"/>
          </a:p>
        </p:txBody>
      </p:sp>
      <p:sp>
        <p:nvSpPr>
          <p:cNvPr id="12" name="status 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PROJECTION built on ASSUMPTIONS. Base case: 540 paying customers by month 12. Conservative and optimistic cases are in the report.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Solo founder with a disciplined 24-month roadmap</a:t>
            </a:r>
            <a:endParaRPr lang="en-US" sz="2600" dirty="0"/>
          </a:p>
        </p:txBody>
      </p:sp>
      <p:sp>
        <p:nvSpPr>
          <p:cNvPr id="3" name="team card"/>
          <p:cNvSpPr/>
          <p:nvPr/>
        </p:nvSpPr>
        <p:spPr>
          <a:xfrm>
            <a:off x="457200" y="1280160"/>
            <a:ext cx="329184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" name="team head"/>
          <p:cNvSpPr txBox="1"/>
          <p:nvPr/>
        </p:nvSpPr>
        <p:spPr>
          <a:xfrm>
            <a:off x="59436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Founder</a:t>
            </a:r>
            <a:endParaRPr lang="en-US" sz="1500" dirty="0"/>
          </a:p>
        </p:txBody>
      </p:sp>
      <p:sp>
        <p:nvSpPr>
          <p:cNvPr id="5" name="team body"/>
          <p:cNvSpPr txBox="1"/>
          <p:nvPr/>
        </p:nvSpPr>
        <p:spPr>
          <a:xfrm>
            <a:off x="594360" y="173736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[Your name]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[Education and relevant experience]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[Why you understand this problem]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Seeking mentors in product design and engineering.</a:t>
            </a:r>
            <a:endParaRPr lang="en-US" sz="1300" dirty="0"/>
          </a:p>
        </p:txBody>
      </p:sp>
      <p:sp>
        <p:nvSpPr>
          <p:cNvPr id="6" name="period 0"/>
          <p:cNvSpPr/>
          <p:nvPr/>
        </p:nvSpPr>
        <p:spPr>
          <a:xfrm>
            <a:off x="4023360" y="1280160"/>
            <a:ext cx="1188720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period label 0"/>
          <p:cNvSpPr txBox="1"/>
          <p:nvPr/>
        </p:nvSpPr>
        <p:spPr>
          <a:xfrm>
            <a:off x="4023360" y="12801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0-3 mo</a:t>
            </a:r>
            <a:endParaRPr lang="en-US" sz="1200" dirty="0"/>
          </a:p>
        </p:txBody>
      </p:sp>
      <p:sp>
        <p:nvSpPr>
          <p:cNvPr id="8" name="milestone 0"/>
          <p:cNvSpPr txBox="1"/>
          <p:nvPr/>
        </p:nvSpPr>
        <p:spPr>
          <a:xfrm>
            <a:off x="5349240" y="12801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Validation and MVP</a:t>
            </a:r>
            <a:endParaRPr lang="en-US" sz="1300" dirty="0"/>
          </a:p>
        </p:txBody>
      </p:sp>
      <p:sp>
        <p:nvSpPr>
          <p:cNvPr id="9" name="period 1"/>
          <p:cNvSpPr/>
          <p:nvPr/>
        </p:nvSpPr>
        <p:spPr>
          <a:xfrm>
            <a:off x="4023360" y="2011680"/>
            <a:ext cx="1188720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period label 1"/>
          <p:cNvSpPr txBox="1"/>
          <p:nvPr/>
        </p:nvSpPr>
        <p:spPr>
          <a:xfrm>
            <a:off x="4023360" y="20116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3-6 mo</a:t>
            </a:r>
            <a:endParaRPr lang="en-US" sz="1200" dirty="0"/>
          </a:p>
        </p:txBody>
      </p:sp>
      <p:sp>
        <p:nvSpPr>
          <p:cNvPr id="11" name="milestone 1"/>
          <p:cNvSpPr txBox="1"/>
          <p:nvPr/>
        </p:nvSpPr>
        <p:spPr>
          <a:xfrm>
            <a:off x="5349240" y="20116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First paying customers</a:t>
            </a:r>
            <a:endParaRPr lang="en-US" sz="1300" dirty="0"/>
          </a:p>
        </p:txBody>
      </p:sp>
      <p:sp>
        <p:nvSpPr>
          <p:cNvPr id="12" name="period 2"/>
          <p:cNvSpPr/>
          <p:nvPr/>
        </p:nvSpPr>
        <p:spPr>
          <a:xfrm>
            <a:off x="4023360" y="2743200"/>
            <a:ext cx="1188720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period label 2"/>
          <p:cNvSpPr txBox="1"/>
          <p:nvPr/>
        </p:nvSpPr>
        <p:spPr>
          <a:xfrm>
            <a:off x="4023360" y="27432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6-12 mo</a:t>
            </a:r>
            <a:endParaRPr lang="en-US" sz="1200" dirty="0"/>
          </a:p>
        </p:txBody>
      </p:sp>
      <p:sp>
        <p:nvSpPr>
          <p:cNvPr id="14" name="milestone 2"/>
          <p:cNvSpPr txBox="1"/>
          <p:nvPr/>
        </p:nvSpPr>
        <p:spPr>
          <a:xfrm>
            <a:off x="5349240" y="27432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Improve and grow</a:t>
            </a:r>
            <a:endParaRPr lang="en-US" sz="1300" dirty="0"/>
          </a:p>
        </p:txBody>
      </p:sp>
      <p:sp>
        <p:nvSpPr>
          <p:cNvPr id="15" name="period 3"/>
          <p:cNvSpPr/>
          <p:nvPr/>
        </p:nvSpPr>
        <p:spPr>
          <a:xfrm>
            <a:off x="4023360" y="3474720"/>
            <a:ext cx="1188720" cy="594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period label 3"/>
          <p:cNvSpPr txBox="1"/>
          <p:nvPr/>
        </p:nvSpPr>
        <p:spPr>
          <a:xfrm>
            <a:off x="4023360" y="34747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12-24 mo</a:t>
            </a:r>
            <a:endParaRPr lang="en-US" sz="1200" dirty="0"/>
          </a:p>
        </p:txBody>
      </p:sp>
      <p:sp>
        <p:nvSpPr>
          <p:cNvPr id="17" name="milestone 3"/>
          <p:cNvSpPr txBox="1"/>
          <p:nvPr/>
        </p:nvSpPr>
        <p:spPr>
          <a:xfrm>
            <a:off x="5349240" y="34747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Institutional pilots, scale</a:t>
            </a:r>
            <a:endParaRPr lang="en-US" sz="1300" dirty="0"/>
          </a:p>
        </p:txBody>
      </p:sp>
      <p:sp>
        <p:nvSpPr>
          <p:cNvPr id="18" name="status 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All milestones are PLANNED. Achieved so far: concept and business analysis (document only).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Next step: validation, not fundraising</a:t>
            </a:r>
            <a:endParaRPr lang="en-US" sz="2600" dirty="0"/>
          </a:p>
        </p:txBody>
      </p:sp>
      <p:sp>
        <p:nvSpPr>
          <p:cNvPr id="3" name="ask card"/>
          <p:cNvSpPr/>
          <p:nvPr/>
        </p:nvSpPr>
        <p:spPr>
          <a:xfrm>
            <a:off x="457200" y="128016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" name="ask head"/>
          <p:cNvSpPr txBox="1"/>
          <p:nvPr/>
        </p:nvSpPr>
        <p:spPr>
          <a:xfrm>
            <a:off x="59436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The ask</a:t>
            </a:r>
            <a:endParaRPr lang="en-US" sz="1500" dirty="0"/>
          </a:p>
        </p:txBody>
      </p:sp>
      <p:sp>
        <p:nvSpPr>
          <p:cNvPr id="5" name="ask body"/>
          <p:cNvSpPr txBox="1"/>
          <p:nvPr/>
        </p:nvSpPr>
        <p:spPr>
          <a:xfrm>
            <a:off x="594360" y="173736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- 15 student founders to test the MVP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- Introductions to 2 incubators or E-Cells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- 2 mentors (design, engineering)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Milestone: 270 paying customers, monthly profit (modelled month 9).</a:t>
            </a:r>
            <a:endParaRPr lang="en-US" sz="1300" dirty="0"/>
          </a:p>
        </p:txBody>
      </p:sp>
      <p:sp>
        <p:nvSpPr>
          <p:cNvPr id="6" name="funds card"/>
          <p:cNvSpPr/>
          <p:nvPr/>
        </p:nvSpPr>
        <p:spPr>
          <a:xfrm>
            <a:off x="4663440" y="128016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7" name="funds head"/>
          <p:cNvSpPr txBox="1"/>
          <p:nvPr/>
        </p:nvSpPr>
        <p:spPr>
          <a:xfrm>
            <a:off x="480060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Funding need: about Rs 4.0 lakh</a:t>
            </a:r>
            <a:endParaRPr lang="en-US" sz="1500" dirty="0"/>
          </a:p>
        </p:txBody>
      </p:sp>
      <p:sp>
        <p:nvSpPr>
          <p:cNvPr id="8" name="funds body"/>
          <p:cNvSpPr txBox="1"/>
          <p:nvPr/>
        </p:nvSpPr>
        <p:spPr>
          <a:xfrm>
            <a:off x="4800600" y="173736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Marketing 30%, product 20%, hiring 15%, technology 10%, contingency 10%, ops 5%, legal 5%, working capital 5%.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Contact: [email]  |  [LinkedIn]  |  [GitHub]</a:t>
            </a:r>
            <a:endParaRPr lang="en-US" sz="1300" dirty="0"/>
          </a:p>
        </p:txBody>
      </p:sp>
      <p:sp>
        <p:nvSpPr>
          <p:cNvPr id="9" name="status 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PROPOSED: peak cash need about Rs 2.8 lakh (base) to Rs 3.5 lakh (conservative), plus contingency.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underFolio">
  <a:themeElements>
    <a:clrScheme name="FounderFolio">
      <a:dk1>
        <a:srgbClr val="1F2A44"/>
      </a:dk1>
      <a:lt1>
        <a:srgbClr val="FFFFFF"/>
      </a:lt1>
      <a:dk2>
        <a:srgbClr val="0E7C86"/>
      </a:dk2>
      <a:lt2>
        <a:srgbClr val="F3F7F8"/>
      </a:lt2>
      <a:accent1>
        <a:srgbClr val="0E7C86"/>
      </a:accent1>
      <a:accent2>
        <a:srgbClr val="F2A541"/>
      </a:accent2>
      <a:accent3>
        <a:srgbClr val="1F2A44"/>
      </a:accent3>
      <a:accent4>
        <a:srgbClr val="6FB9BF"/>
      </a:accent4>
      <a:accent5>
        <a:srgbClr val="9CA3AF"/>
      </a:accent5>
      <a:accent6>
        <a:srgbClr val="C0504D"/>
      </a:accent6>
      <a:hlink>
        <a:srgbClr val="0E7C86"/>
      </a:hlink>
      <a:folHlink>
        <a:srgbClr val="6B7280"/>
      </a:folHlink>
    </a:clrScheme>
    <a:fontScheme name="FounderFoli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FounderFolio Pitch Deck</dc:title>
  <dc:subject>PptxGenJS Presentation</dc:subject>
  <dc:creator>Founder</dc:creator>
  <cp:lastModifiedBy>Founder</cp:lastModifiedBy>
  <cp:revision>1</cp:revision>
  <dcterms:created xsi:type="dcterms:W3CDTF">2026-10-05T18:26:42Z</dcterms:created>
  <dcterms:modified xsi:type="dcterms:W3CDTF">2026-10-05T18:26:42Z</dcterms:modified>
</cp:coreProperties>
</file>